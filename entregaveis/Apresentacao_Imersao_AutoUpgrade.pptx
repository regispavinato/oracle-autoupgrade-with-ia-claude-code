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762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Instalação</a:t>
            </a:r>
            <a:r>
              <a:rPr sz="20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· Patching · Multitenant · </a:t>
            </a:r>
            <a:r>
              <a:rPr sz="20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Migração</a:t>
            </a:r>
            <a:r>
              <a:rPr sz="20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para Oracle 23ai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Automação assistida por IA: teoria, prática e o comparativo com a execução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C3D6"/>
                </a:solidFill>
                <a:latin typeface="Calibri"/>
              </a:rPr>
              <a:t>Imersão de 2 dias — Sábado e Domingo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O que é o Oracle AutoUpgrade — teoria e arquitetura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As 8 atividades da imersão, de ponta a ponta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Execução manual vs. execução assistida por IA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Vantagens e desvantagens de cada abordagem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Incidentes reais e lições técnicas da imersão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Quando usar IA, quando manter o controle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que é o Oracle AutoUpgrade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Ferramenta oficial da Oracle (Java) que unifica em um único fluxo o que antes exigia vários utilitários manuais: DBUA, catctl.pl, datapatch, OPatch e scripts próprios.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11880" cy="329184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sz="2000" b="1">
                <a:solidFill>
                  <a:srgbClr val="1B2A4A"/>
                </a:solidFill>
              </a:rPr>
              <a:t>analyze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333333"/>
                </a:solidFill>
              </a:rPr>
              <a:t>Roda pré-checagens e fixups sem alterar o banco — identifica bloqueadores antes de qualquer mudança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611880" cy="329184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sz="2000" b="1">
                <a:solidFill>
                  <a:srgbClr val="1B2A4A"/>
                </a:solidFill>
              </a:rPr>
              <a:t>deploy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333333"/>
                </a:solidFill>
              </a:rPr>
              <a:t>Executa a operação completa: shutdown, troca de Oracle Home, upgrade/patch/conversão, datapatch, utlrp e restart.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377440"/>
            <a:ext cx="3611880" cy="329184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sz="2000" b="1">
                <a:solidFill>
                  <a:srgbClr val="1B2A4A"/>
                </a:solidFill>
              </a:rPr>
              <a:t>Um só motor, 3 usos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333333"/>
                </a:solidFill>
              </a:rPr>
              <a:t>Patch (out-of-place), conversão non-CDB→PDB e upgrade de versão maior — tudo via arquivo .cfg.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Conceitos-chave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●  Oracle Home out-of-place  </a:t>
            </a:r>
            <a:r>
              <a:rPr sz="1800">
                <a:solidFill>
                  <a:srgbClr val="222222"/>
                </a:solidFill>
                <a:latin typeface="Calibri"/>
              </a:rPr>
              <a:t>patch/upgrade aplicado num Oracle Home novo, separado do ativo — o banco só troca de home no momento do deploy, minimizando janela de risco.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●  Multitenant (CDB/PDB)  </a:t>
            </a:r>
            <a:r>
              <a:rPr sz="1800">
                <a:solidFill>
                  <a:srgbClr val="222222"/>
                </a:solidFill>
                <a:latin typeface="Calibri"/>
              </a:rPr>
              <a:t>um Container Database (CDB) hospeda uma ou mais Pluggable Databases (PDB) — a conversão non-CDB→PDB reaproveita o dicionário de dados existente.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●  Upgrade de dicionário  </a:t>
            </a:r>
            <a:r>
              <a:rPr sz="1800">
                <a:solidFill>
                  <a:srgbClr val="222222"/>
                </a:solidFill>
                <a:latin typeface="Calibri"/>
              </a:rPr>
              <a:t>migrar de versão maior (ex.: 19c→23ai) reescreve o dicionário de dados via catctl.pl em paralelo, componente por componente.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●  Guarantee Restore Point (GRP)  </a:t>
            </a:r>
            <a:r>
              <a:rPr sz="1800">
                <a:solidFill>
                  <a:srgbClr val="222222"/>
                </a:solidFill>
                <a:latin typeface="Calibri"/>
              </a:rPr>
              <a:t>o AutoUpgrade cria automaticamente um ponto de restauração antes de operações críticas — rede de segurança para rollback.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 8 Atividades da Imersão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97480" cy="2011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1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Preparação do ambiente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SO, LVM, Oracle 19c, DBCA, listener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697480" cy="2011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2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Download do patch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autoupgrade.jar mais recente + Java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2697480" cy="2011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3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Novo Oracle Home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instalação out-of-place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17320"/>
            <a:ext cx="2697480" cy="2011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4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Aplicar patch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OPatch + AutoUpgrade 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1880"/>
            <a:ext cx="2697480" cy="2011680"/>
          </a:xfrm>
          <a:prstGeom prst="round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5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Multitenant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non-CDB → CDB/PDB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611880"/>
            <a:ext cx="2697480" cy="2011680"/>
          </a:xfrm>
          <a:prstGeom prst="round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6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Migração 23ai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19c → Oracle 23ai (23.26.1)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11880"/>
            <a:ext cx="2697480" cy="2011680"/>
          </a:xfrm>
          <a:prstGeom prst="round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7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Patch 23.26.2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novo home + AutoUpgrade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11880"/>
            <a:ext cx="2697480" cy="2011680"/>
          </a:xfrm>
          <a:prstGeom prst="round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600" b="1">
                <a:solidFill>
                  <a:srgbClr val="B8862B"/>
                </a:solidFill>
              </a:rPr>
              <a:t>8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Verificação final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9D2E4"/>
                </a:solidFill>
              </a:rPr>
              <a:t>health checks + relatório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Tempo Estimado por Atividade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555555"/>
                </a:solidFill>
                <a:latin typeface="Calibri"/>
              </a:rPr>
              <a:t>Estimativa de duração de cada atividade, usada como referência para montar o cronograma da imersão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1. Prepare ambiente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925319"/>
            <a:ext cx="866273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38073" y="1874519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7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2. Download 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400807"/>
            <a:ext cx="1328286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00086" y="2350007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23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25495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3. Criar Oracle Home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876295"/>
            <a:ext cx="115503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7303" y="2825495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3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4. Aplicar patch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3351783"/>
            <a:ext cx="2945330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7130" y="3300983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51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76471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5. Multitenant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827271"/>
            <a:ext cx="3580597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397" y="3776471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62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51959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6. Migrar 23ai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4302759"/>
            <a:ext cx="7680960" cy="34848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52760" y="4251959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133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27447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7. Patch 23.26.2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4778247"/>
            <a:ext cx="1963553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5353" y="4727447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34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02935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8. Verificação final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5253735"/>
            <a:ext cx="866273" cy="348488"/>
          </a:xfrm>
          <a:prstGeom prst="rect">
            <a:avLst/>
          </a:prstGeom>
          <a:solidFill>
            <a:srgbClr val="243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38073" y="5202935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15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Estimativa total: ~5h45min somando as 8 atividades — a Atividade 6 concentra ~39% do tempo, por isso recebe um bloco dedicado no cronograma.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Execução Manual vs.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Assistida por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O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que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muda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quando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um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agente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de IA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executa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o runbook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em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vez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de um DBA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digitando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comando</a:t>
            </a:r>
            <a:r>
              <a:rPr sz="17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a </a:t>
            </a:r>
            <a:r>
              <a:rPr sz="17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comando</a:t>
            </a:r>
            <a:endParaRPr sz="1700" b="0" i="1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Comparativo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Execução Manual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Assistida por IA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Geração de .cfg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Digitação manual, sujeita a erro de sintaxe/parâmetro obsoleto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Gerado a partir do template validado, revisado antes de aplicar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Diagnóstico de erro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Busca em documentação/MOS, tentativa e erro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Consulta -help/logs em segundos, aplica lição já registrada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Memória entre sessões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Depende de anotações pessoais do 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Lições persistidas automaticamente e reaproveitadas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Monitoramento de job longo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Precisa ficar de prontidão / configurar alertas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Poll assíncrono, sem fadiga, sem perder o término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Ações destrutivas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Julgamento direto de quem está na tela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Pausa e pede confirmação antes de agir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Consistência entre atividades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Varia com a memória/disposição do operador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Aplica o mesmo padrão (ex.: OPEN+SAVE STATE) sempre</a:t>
                      </a:r>
                    </a:p>
                  </a:txBody>
                  <a:tcPr>
                    <a:solidFill>
                      <a:srgbClr val="F4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</a:rPr>
                        <a:t>Intuição de risco em produção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Forte — anos de experiência de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Limitada ao que está documentado/observável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Vantagens da execução assistida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Geração consistente de .cfg com a sintaxe correta para a versão do AutoUpgrade em uso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Aplicação automática de padrões operacionais aprendidos (ex.: limpeza preventiva de jobs, OPEN + SAVE STATE sempre juntos)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Memória persistida entre sessões — uma lição aprendida numa atividade não se perde na próxima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Monitoramento de jobs longos sem fadiga, com polling assíncrono e retomada automática de contexto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Diagnóstico rápido de erros pouco documentados (ex.: leitura do -help da ferramenta em segundos)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Rastreabilidade: cada comando executado fica registrado, facilitando auditoria e documentação pós-fato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Riscos e desvantagens da execução assistida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Pode assumir comportamento de sistema incorretamente — ex.: systemctl restart em serviço mal configurado matou a instância real via SIGTERM no cgroup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Trial-and-error visível em comportamentos não documentados da ferramenta (ex.: semântica exata do -clear_recovery_data)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Depende de contexto correto do ambiente — um arquivo corrompido em trânsito gerou confusão até ser identificado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Falta de intuição de risco de produção — não substitui o julgamento de um DBA sênior em decisões de negócio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Exige supervisão humana em pontos de decisão crítica — não deve operar de forma totalmente autônoma em produção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●  Nomes/rótulos podem enganar (ex.: um .zip nomeado como patch OPatch era, na prática, uma Gold Image completa)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Riscos identificados num teste técnico preliminar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55555"/>
                </a:solidFill>
                <a:latin typeface="Calibri"/>
              </a:rPr>
              <a:t>Situações reais encontradas ao validar o roteiro técnico antes da imersão — não são resultados da imersão em 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137160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sz="1600" b="1">
                <a:solidFill>
                  <a:srgbClr val="1B2A4A"/>
                </a:solidFill>
              </a:rPr>
              <a:t>systemctl restart pode matar a instância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33333"/>
                </a:solidFill>
              </a:rPr>
              <a:t>Em serviços Type=forking sem PIDFile=, o systemd pode varrer o cgroup e derrubar processos reais do Oracle. Recuperável com limpeza de shared memory órfã + STARTUP manual, sem perda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72968"/>
            <a:ext cx="11064240" cy="137160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sz="1600" b="1">
                <a:solidFill>
                  <a:srgbClr val="1B2A4A"/>
                </a:solidFill>
              </a:rPr>
              <a:t>Job "unfinished execution" num .cfg novo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33333"/>
                </a:solidFill>
              </a:rPr>
              <a:t>O AutoUpgrade pode indexar recovery data de jobs anteriores do mesmo SID. Resolvido com -clear_recovery_data sem -jobs no .cfg novo.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54296"/>
            <a:ext cx="11064240" cy="1371600"/>
          </a:xfrm>
          <a:prstGeom prst="roundRect">
            <a:avLst/>
          </a:prstGeom>
          <a:solidFill>
            <a:srgbClr val="F4F2EC"/>
          </a:solidFill>
          <a:ln w="12700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sz="1600" b="1">
                <a:solidFill>
                  <a:srgbClr val="1B2A4A"/>
                </a:solidFill>
              </a:rPr>
              <a:t>Gold Image pode corromper em trânsito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33333"/>
                </a:solidFill>
              </a:rPr>
              <a:t>Mover um arquivo enquanto a cópia ainda está em andamento pode truncar o zip. Sempre validar com unzip -t antes de seguir para a extração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Quando usar IA, quando manter o controle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80160" cy="508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EA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Favorece IA assistida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Ambientes de laboratório, homologação e treinamento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Tarefas repetitivas com sintaxe bem documentada (.cfg, comandos padronizados)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Monitoramento de operações longas em background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Necessidade de rastreabilidade e memória entre sessões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Times pequenos sem DBA dedicado 100% do tempo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02A2A"/>
                </a:solidFill>
                <a:latin typeface="Calibri"/>
              </a:rPr>
              <a:t>Favorece controle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Produção crítica com SLA apertado e sem janela de manutenção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Decisões de negócio (o que é aceitável parar, por quanto tempo)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Situações não documentadas / comportamento de sistema desconhecido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Ambientes com configuração de systemd/HA não totalmente auditada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●  Qualquer ação destrutiva ou irreversível — sempre com confirmação humana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Imersão Oracle AutoUpgrade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 err="1">
                <a:solidFill>
                  <a:srgbClr val="FFFFFF"/>
                </a:solidFill>
                <a:latin typeface="Calibri"/>
              </a:rPr>
              <a:t>Obrigado</a:t>
            </a:r>
            <a:r>
              <a:rPr sz="4800" b="1" i="0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Perguntas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e </a:t>
            </a:r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discussão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— Oracle </a:t>
            </a:r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AutoUpgrade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+ </a:t>
            </a:r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automação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assistida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chemeClr val="tx2">
                    <a:lumMod val="50000"/>
                  </a:schemeClr>
                </a:solidFill>
                <a:latin typeface="Calibri"/>
              </a:rPr>
              <a:t>por</a:t>
            </a:r>
            <a:r>
              <a:rPr sz="1800" b="0" i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1246</Words>
  <Application>Microsoft Office PowerPoint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Christiano Rios</cp:lastModifiedBy>
  <cp:revision>2</cp:revision>
  <dcterms:created xsi:type="dcterms:W3CDTF">2013-01-27T09:14:16Z</dcterms:created>
  <dcterms:modified xsi:type="dcterms:W3CDTF">2026-07-12T01:50:31Z</dcterms:modified>
  <cp:category/>
</cp:coreProperties>
</file>